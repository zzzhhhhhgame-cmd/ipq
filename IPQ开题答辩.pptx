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EC9DE"/>
                </a:solidFill>
                <a:latin typeface="Calibri"/>
              </a:rPr>
              <a:t>CAMBRIDGE INTERNATIONAL PROJECT QUALIFICATION  ·  PROPOSAL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07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S-curve vs. PID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9EC9DE"/>
                </a:solidFill>
                <a:latin typeface="Calibri"/>
              </a:rPr>
              <a:t>Energy, Time and Differential Suppression for a Two-Motor Robot 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94760"/>
            <a:ext cx="146304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FFFFF"/>
                </a:solidFill>
                <a:latin typeface="Calibri"/>
              </a:rPr>
              <a:t>“Which control strategy moves my robot car faster and cheaper — and which one keeps it straight?”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[Your Name]</a:t>
            </a:r>
            <a:r>
              <a:rPr sz="1300" b="0" i="0">
                <a:solidFill>
                  <a:srgbClr val="9EC9DE"/>
                </a:solidFill>
                <a:latin typeface="Calibri"/>
              </a:rPr>
              <a:t>   ·   Centre CN213, Shanghai Guanghua College   ·   Series 06/27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EC9DE"/>
                </a:solidFill>
                <a:latin typeface="Calibri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28016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Calibri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25296"/>
            <a:ext cx="11094415" cy="1778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7C"/>
                </a:solidFill>
                <a:latin typeface="Calibri"/>
              </a:rPr>
              <a:t>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578608" cy="2377440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578608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21214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2E86AB"/>
                </a:solidFill>
                <a:latin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Background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&amp; Motivation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E7C"/>
                </a:solidFill>
                <a:latin typeface="Calibri"/>
              </a:rPr>
              <a:t>why this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737360"/>
            <a:ext cx="2578608" cy="2377440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6704" y="1737360"/>
            <a:ext cx="2578608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2057400"/>
            <a:ext cx="21214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2E86AB"/>
                </a:solidFill>
                <a:latin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Experimental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Design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E7C"/>
                </a:solidFill>
                <a:latin typeface="Calibri"/>
              </a:rPr>
              <a:t>variables · protocol ·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737360"/>
            <a:ext cx="2578608" cy="2377440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1737360"/>
            <a:ext cx="2578608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057400"/>
            <a:ext cx="21214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2E86AB"/>
                </a:solidFill>
                <a:latin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Feasibility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E7C"/>
                </a:solidFill>
                <a:latin typeface="Calibri"/>
              </a:rPr>
              <a:t>platform · skills · risks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2832" y="1737360"/>
            <a:ext cx="2578608" cy="2377440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42832" y="1737360"/>
            <a:ext cx="2578608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2057400"/>
            <a:ext cx="21214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2E86AB"/>
                </a:solidFill>
                <a:latin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Timeline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E7C"/>
                </a:solidFill>
                <a:latin typeface="Calibri"/>
              </a:rPr>
              <a:t>Aug 2026 → Apr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E7C"/>
                </a:solidFill>
                <a:latin typeface="Calibri"/>
              </a:rPr>
              <a:t>Total: 7–8 minutes · 12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28016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01 ·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Calibri"/>
              </a:rPr>
              <a:t>The Problem I Met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25296"/>
            <a:ext cx="11094415" cy="1778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7C"/>
                </a:solidFill>
                <a:latin typeface="Calibri"/>
              </a:rP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65836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5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212E3B"/>
                </a:solidFill>
                <a:latin typeface="Calibri"/>
              </a:rPr>
              <a:t>Built a two-motor robot car </a:t>
            </a:r>
            <a:r>
              <a:rPr sz="1550" b="0" i="0">
                <a:solidFill>
                  <a:srgbClr val="212E3B"/>
                </a:solidFill>
                <a:latin typeface="Calibri"/>
              </a:rPr>
              <a:t>— ESP32 + encoder motors, my own hardware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5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212E3B"/>
                </a:solidFill>
                <a:latin typeface="Calibri"/>
              </a:rPr>
              <a:t>Observation 1 — motors are the biggest power consumer: </a:t>
            </a:r>
            <a:r>
              <a:rPr sz="1550" b="0" i="0">
                <a:solidFill>
                  <a:srgbClr val="212E3B"/>
                </a:solidFill>
                <a:latin typeface="Calibri"/>
              </a:rPr>
              <a:t>the battery drains quickly and much of the energy is wasted rather than converted into motion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5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212E3B"/>
                </a:solidFill>
                <a:latin typeface="Calibri"/>
              </a:rPr>
              <a:t>Observation 2 — same PWM ≠ same speed: </a:t>
            </a:r>
            <a:r>
              <a:rPr sz="1550" b="0" i="0">
                <a:solidFill>
                  <a:srgbClr val="212E3B"/>
                </a:solidFill>
                <a:latin typeface="Calibri"/>
              </a:rPr>
              <a:t>the two wheels differ by ~5% (wheel encoders) due to motor manufacturing differences → the car drifts off a straight line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5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212E3B"/>
                </a:solidFill>
                <a:latin typeface="Calibri"/>
              </a:rPr>
              <a:t>Question raised: </a:t>
            </a:r>
            <a:r>
              <a:rPr sz="1550" b="0" i="0">
                <a:solidFill>
                  <a:srgbClr val="212E3B"/>
                </a:solidFill>
                <a:latin typeface="Calibri"/>
              </a:rPr>
              <a:t>does how we command the motors change the energy cost and the accuracy of the movement?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00200"/>
            <a:ext cx="420624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329184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F6E7C"/>
                </a:solidFill>
                <a:latin typeface="Calibri"/>
              </a:rPr>
              <a:t>[ photo: the robot car ]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E7C"/>
                </a:solidFill>
                <a:latin typeface="Calibri"/>
              </a:rPr>
              <a:t>[ plot: rpmL vs rpmR diverging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532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F6E7C"/>
                </a:solidFill>
                <a:latin typeface="Calibri"/>
              </a:rPr>
              <a:t>replace before the defense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28016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01 ·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Calibri"/>
              </a:rPr>
              <a:t>Two Ways to Command a Motor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25296"/>
            <a:ext cx="11094415" cy="1778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7C"/>
                </a:solidFill>
                <a:latin typeface="Calibri"/>
              </a:rPr>
              <a:t>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40680" cy="3383280"/>
          </a:xfrm>
          <a:prstGeom prst="roundRect">
            <a:avLst>
              <a:gd name="adj" fmla="val 5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102A43"/>
                </a:solidFill>
                <a:latin typeface="Calibri"/>
              </a:rPr>
              <a:t>S-curve motion profiling</a:t>
            </a:r>
            <a:r>
              <a:rPr sz="1900" b="0" i="0">
                <a:solidFill>
                  <a:srgbClr val="5F6E7C"/>
                </a:solidFill>
                <a:latin typeface="Calibri"/>
              </a:rPr>
              <a:t>   (open loop)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12E3B"/>
                </a:solidFill>
                <a:latin typeface="Calibri"/>
              </a:rPr>
              <a:t>Speed follows </a:t>
            </a:r>
            <a:r>
              <a:rPr sz="1450" b="0" i="0">
                <a:solidFill>
                  <a:srgbClr val="212E3B"/>
                </a:solidFill>
                <a:latin typeface="Calibri"/>
              </a:rPr>
              <a:t>a smooth, jerk-limited S-shaped reference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12E3B"/>
                </a:solidFill>
                <a:latin typeface="Calibri"/>
              </a:rPr>
              <a:t>Standard in CNC machines &amp; industrial robots </a:t>
            </a:r>
            <a:r>
              <a:rPr sz="1450" b="0" i="0">
                <a:solidFill>
                  <a:srgbClr val="212E3B"/>
                </a:solidFill>
                <a:latin typeface="Calibri"/>
              </a:rPr>
              <a:t>— limits vibration and mechanical stress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</a:pPr>
            <a:r>
              <a:rPr sz="1100" b="0" i="1">
                <a:solidFill>
                  <a:srgbClr val="5F6E7C"/>
                </a:solidFill>
                <a:latin typeface="Calibri"/>
              </a:rPr>
              <a:t>Nguyen et al. 2008 · Meckl et al. 1998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40680" cy="3383280"/>
          </a:xfrm>
          <a:prstGeom prst="roundRect">
            <a:avLst>
              <a:gd name="adj" fmla="val 5000"/>
            </a:avLst>
          </a:prstGeom>
          <a:solidFill>
            <a:srgbClr val="E4EFF6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102A43"/>
                </a:solidFill>
                <a:latin typeface="Calibri"/>
              </a:rPr>
              <a:t>PID feedback control</a:t>
            </a:r>
            <a:r>
              <a:rPr sz="1900" b="0" i="0">
                <a:solidFill>
                  <a:srgbClr val="5F6E7C"/>
                </a:solidFill>
                <a:latin typeface="Calibri"/>
              </a:rPr>
              <a:t>   (closed loop)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12E3B"/>
                </a:solidFill>
                <a:latin typeface="Calibri"/>
              </a:rPr>
              <a:t>Continuously corrects PWM </a:t>
            </a:r>
            <a:r>
              <a:rPr sz="1450" b="0" i="0">
                <a:solidFill>
                  <a:srgbClr val="212E3B"/>
                </a:solidFill>
                <a:latin typeface="Calibri"/>
              </a:rPr>
              <a:t>from the measured speed error (encoders)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12E3B"/>
                </a:solidFill>
                <a:latin typeface="Calibri"/>
              </a:rPr>
              <a:t>Most widely used control algorithm </a:t>
            </a:r>
            <a:r>
              <a:rPr sz="1450" b="0" i="0">
                <a:solidFill>
                  <a:srgbClr val="212E3B"/>
                </a:solidFill>
                <a:latin typeface="Calibri"/>
              </a:rPr>
              <a:t>in industry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</a:pPr>
            <a:r>
              <a:rPr sz="1100" b="0" i="1">
                <a:solidFill>
                  <a:srgbClr val="5F6E7C"/>
                </a:solidFill>
                <a:latin typeface="Calibri"/>
              </a:rPr>
              <a:t>Åström &amp; Hägglund · Mahmud et al. 2020 · Hammoodi et al. 2020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3628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9EC9DE"/>
                </a:solidFill>
                <a:latin typeface="Calibri"/>
              </a:rPr>
              <a:t>Key structural difference: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an open loop sees nothing — a closed loop corrects.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28016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01 ·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Calibri"/>
              </a:rPr>
              <a:t>Research Gap &amp; Research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25296"/>
            <a:ext cx="11094415" cy="1778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7C"/>
                </a:solidFill>
                <a:latin typeface="Calibri"/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212E3B"/>
                </a:solidFill>
                <a:latin typeface="Calibri"/>
              </a:rPr>
              <a:t>Gap — </a:t>
            </a:r>
            <a:r>
              <a:rPr sz="1550" b="0" i="0">
                <a:solidFill>
                  <a:srgbClr val="212E3B"/>
                </a:solidFill>
                <a:latin typeface="Calibri"/>
              </a:rPr>
              <a:t>most published comparisons are simulation-based with a single idealised motor: no mismatched motors, no battery, no energy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3593592" cy="1143000"/>
          </a:xfrm>
          <a:prstGeom prst="roundRect">
            <a:avLst>
              <a:gd name="adj" fmla="val 9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24912"/>
            <a:ext cx="31363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Q1   </a:t>
            </a:r>
            <a:r>
              <a:rPr sz="1350" b="0" i="0">
                <a:solidFill>
                  <a:srgbClr val="212E3B"/>
                </a:solidFill>
                <a:latin typeface="Calibri"/>
              </a:rPr>
              <a:t>Which strategy completes the task with less energy?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514600"/>
            <a:ext cx="3593592" cy="1143000"/>
          </a:xfrm>
          <a:prstGeom prst="roundRect">
            <a:avLst>
              <a:gd name="adj" fmla="val 9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724912"/>
            <a:ext cx="31363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Q2   </a:t>
            </a:r>
            <a:r>
              <a:rPr sz="1350" b="0" i="0">
                <a:solidFill>
                  <a:srgbClr val="212E3B"/>
                </a:solidFill>
                <a:latin typeface="Calibri"/>
              </a:rPr>
              <a:t>Which one settles at the target speed faster?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514600"/>
            <a:ext cx="3593592" cy="1143000"/>
          </a:xfrm>
          <a:prstGeom prst="roundRect">
            <a:avLst>
              <a:gd name="adj" fmla="val 9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2724912"/>
            <a:ext cx="31363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Q3   </a:t>
            </a:r>
            <a:r>
              <a:rPr sz="1350" b="0" i="0">
                <a:solidFill>
                  <a:srgbClr val="212E3B"/>
                </a:solidFill>
                <a:latin typeface="Calibri"/>
              </a:rPr>
              <a:t>How much differential can only PID remove?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39"/>
            <a:ext cx="11094415" cy="1965960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24528"/>
            <a:ext cx="10180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EC9DE"/>
                </a:solidFill>
                <a:latin typeface="Calibri"/>
              </a:rPr>
              <a:t>RESEARCH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101800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FFFFFF"/>
                </a:solidFill>
                <a:latin typeface="Calibri"/>
              </a:rPr>
              <a:t>“How do S-curve open-loop motion profiling and PID closed-loop control compare in the electrical energy consumed and the time taken to complete a speed-change task on a self-built two-motor robot car — and to what extent can PID control additionally suppress the wheel-speed difference that open-loop control cannot solve?”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28016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02 · 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Calibri"/>
              </a:rPr>
              <a:t>Test Platform &amp;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25296"/>
            <a:ext cx="11094415" cy="1778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7C"/>
                </a:solidFill>
                <a:latin typeface="Calibri"/>
              </a:rPr>
              <a:t>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40680" cy="2514600"/>
          </a:xfrm>
          <a:prstGeom prst="roundRect">
            <a:avLst>
              <a:gd name="adj" fmla="val 5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Calibri"/>
              </a:rP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892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12E3B"/>
                </a:solidFill>
                <a:latin typeface="Calibri"/>
              </a:rPr>
              <a:t>ESP32 controller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12E3B"/>
                </a:solidFill>
                <a:latin typeface="Calibri"/>
              </a:rPr>
              <a:t>2 × JGB37-520B encoder motors (330 counts/rev)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12E3B"/>
                </a:solidFill>
                <a:latin typeface="Calibri"/>
              </a:rPr>
              <a:t>DRV8833 motor driver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40680" cy="2514600"/>
          </a:xfrm>
          <a:prstGeom prst="roundRect">
            <a:avLst>
              <a:gd name="adj" fmla="val 5000"/>
            </a:avLst>
          </a:prstGeom>
          <a:solidFill>
            <a:srgbClr val="E4EFF6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Calibri"/>
              </a:rPr>
              <a:t>SENSING &amp;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892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12E3B"/>
                </a:solidFill>
                <a:latin typeface="Calibri"/>
              </a:rPr>
              <a:t>INA226 </a:t>
            </a:r>
            <a:r>
              <a:rPr sz="1450" b="0" i="0">
                <a:solidFill>
                  <a:srgbClr val="212E3B"/>
                </a:solidFill>
                <a:latin typeface="Calibri"/>
              </a:rPr>
              <a:t>— bus voltage, current, electrical power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12E3B"/>
                </a:solidFill>
                <a:latin typeface="Calibri"/>
              </a:rPr>
              <a:t>MPU6050 gyroscope </a:t>
            </a:r>
            <a:r>
              <a:rPr sz="1450" b="0" i="0">
                <a:solidFill>
                  <a:srgbClr val="212E3B"/>
                </a:solidFill>
                <a:latin typeface="Calibri"/>
              </a:rPr>
              <a:t>— yaw rate (independent turning check)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12E3B"/>
                </a:solidFill>
                <a:latin typeface="Calibri"/>
              </a:rPr>
              <a:t>Telemetry @ 10 Hz → CSV: </a:t>
            </a:r>
            <a:r>
              <a:rPr sz="1450" b="0" i="0">
                <a:solidFill>
                  <a:srgbClr val="212E3B"/>
                </a:solidFill>
                <a:latin typeface="Calibri"/>
              </a:rPr>
              <a:t>target, rpmL, rpmR, PWM, gyrZ, V, I, 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5440680" cy="1600200"/>
          </a:xfrm>
          <a:prstGeom prst="roundRect">
            <a:avLst>
              <a:gd name="adj" fmla="val 8000"/>
            </a:avLst>
          </a:prstGeom>
          <a:solidFill>
            <a:srgbClr val="E1F2E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6F54"/>
                </a:solidFill>
                <a:latin typeface="Calibri"/>
              </a:rPr>
              <a:t>ALREADY RUNNING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12E3B"/>
                </a:solidFill>
                <a:latin typeface="Calibri"/>
              </a:rPr>
              <a:t>Dual-wheel PID @ 100 ms · anti-windup · optional feed-forward — firmware tested on the real car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43400"/>
            <a:ext cx="5440680" cy="1600200"/>
          </a:xfrm>
          <a:prstGeom prst="roundRect">
            <a:avLst>
              <a:gd name="adj" fmla="val 8000"/>
            </a:avLst>
          </a:prstGeom>
          <a:solidFill>
            <a:srgbClr val="FBF1DD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C8811E"/>
                </a:solidFill>
                <a:latin typeface="Calibri"/>
              </a:rPr>
              <a:t>TO ADD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12E3B"/>
                </a:solidFill>
                <a:latin typeface="Calibri"/>
              </a:rPr>
              <a:t>On-board S-curve reference generator for the open-loop mode — the same car then runs both strategies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28016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02 · 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Calibri"/>
              </a:rPr>
              <a:t>Variables &amp; Experimental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25296"/>
            <a:ext cx="11094415" cy="1778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7C"/>
                </a:solidFill>
                <a:latin typeface="Calibri"/>
              </a:rPr>
              <a:t>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3593592" cy="960120"/>
          </a:xfrm>
          <a:prstGeom prst="roundRect">
            <a:avLst>
              <a:gd name="adj" fmla="val 10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31912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INDEPENDENT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E3B"/>
                </a:solidFill>
                <a:latin typeface="Calibri"/>
              </a:rPr>
              <a:t>control strategy: S-curve open-loop  vs.  tuned PID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481328"/>
            <a:ext cx="3593592" cy="960120"/>
          </a:xfrm>
          <a:prstGeom prst="roundRect">
            <a:avLst>
              <a:gd name="adj" fmla="val 10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645920"/>
            <a:ext cx="31912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DEPENDENT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E3B"/>
                </a:solidFill>
                <a:latin typeface="Calibri"/>
              </a:rPr>
              <a:t>energy (J) · settling time (s) · rpmL−rpmR · yaw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481328"/>
            <a:ext cx="3593592" cy="960120"/>
          </a:xfrm>
          <a:prstGeom prst="roundRect">
            <a:avLst>
              <a:gd name="adj" fmla="val 10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31912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CONTROLLED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E3B"/>
                </a:solidFill>
                <a:latin typeface="Calibri"/>
              </a:rPr>
              <a:t>same car, surface, battery window, speeds · ≥3 repeats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265176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5577840"/>
                <a:gridCol w="4663440"/>
              </a:tblGrid>
              <a:tr h="4724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Exp</a:t>
                      </a:r>
                    </a:p>
                  </a:txBody>
                  <a:tcPr marL="109728" marR="73152" marT="36576" marB="36576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109728" marR="73152" marT="36576" marB="36576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tells us</a:t>
                      </a:r>
                    </a:p>
                  </a:txBody>
                  <a:tcPr marL="109728" marR="73152" marT="36576" marB="36576" anchor="ctr">
                    <a:solidFill>
                      <a:srgbClr val="102A43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12E3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E3B"/>
                          </a:solidFill>
                          <a:latin typeface="Calibri"/>
                        </a:rPr>
                        <a:t>Same speed-change task under both strategies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E3B"/>
                          </a:solidFill>
                          <a:latin typeface="Calibri"/>
                        </a:rPr>
                        <a:t>the energy &amp; time comparison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12E3B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E3B"/>
                          </a:solidFill>
                          <a:latin typeface="Calibri"/>
                        </a:rPr>
                        <a:t>Step-response measurement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E3B"/>
                          </a:solidFill>
                          <a:latin typeface="Calibri"/>
                        </a:rPr>
                        <a:t>system dynamics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12E3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E3B"/>
                          </a:solidFill>
                          <a:latin typeface="Calibri"/>
                        </a:rPr>
                        <a:t>One-factor-at-a-time PID tuning (Kp, Ki, Kd, FF)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E3B"/>
                          </a:solidFill>
                          <a:latin typeface="Calibri"/>
                        </a:rPr>
                        <a:t>fair tuning — PID not misrepresented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12E3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E3B"/>
                          </a:solidFill>
                          <a:latin typeface="Calibri"/>
                        </a:rPr>
                        <a:t>Identical S-curve commands  vs.  per-wheel PID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E3B"/>
                          </a:solidFill>
                          <a:latin typeface="Calibri"/>
                        </a:rPr>
                        <a:t>differential suppression (unique to feedback)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12E3B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E3B"/>
                          </a:solidFill>
                          <a:latin typeface="Calibri"/>
                        </a:rPr>
                        <a:t>Robustness across target speeds (15 / 45 / 90 rpm)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12E3B"/>
                          </a:solidFill>
                          <a:latin typeface="Calibri"/>
                        </a:rPr>
                        <a:t>how far conclusions generalise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102A43"/>
                </a:solidFill>
                <a:latin typeface="Calibri"/>
              </a:rPr>
              <a:t>Extension: </a:t>
            </a:r>
            <a:r>
              <a:rPr sz="1300" b="0" i="1">
                <a:solidFill>
                  <a:srgbClr val="5F6E7C"/>
                </a:solidFill>
                <a:latin typeface="Calibri"/>
              </a:rPr>
              <a:t>PID tracking an S-curve reference — the best of both worlds?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28016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02 · 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Calibri"/>
              </a:rPr>
              <a:t>Metrics &amp; Hypotheses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25296"/>
            <a:ext cx="11094415" cy="1778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7C"/>
                </a:solidFill>
                <a:latin typeface="Calibri"/>
              </a:rP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Calibri"/>
              </a:rPr>
              <a:t>HOW THE WINNER IS JUDGED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12E3B"/>
                </a:solidFill>
                <a:latin typeface="Calibri"/>
              </a:rPr>
              <a:t>Energy = ∫P dt </a:t>
            </a:r>
            <a:r>
              <a:rPr sz="1450" b="0" i="0">
                <a:solidFill>
                  <a:srgbClr val="212E3B"/>
                </a:solidFill>
                <a:latin typeface="Calibri"/>
              </a:rPr>
              <a:t>— INA226 power sampled at 10 Hz, integrated over the task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12E3B"/>
                </a:solidFill>
                <a:latin typeface="Calibri"/>
              </a:rPr>
              <a:t>Settling time </a:t>
            </a:r>
            <a:r>
              <a:rPr sz="1450" b="0" i="0">
                <a:solidFill>
                  <a:srgbClr val="212E3B"/>
                </a:solidFill>
                <a:latin typeface="Calibri"/>
              </a:rPr>
              <a:t>— from command until speed stays within a ±5% band of target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12E3B"/>
                </a:solidFill>
                <a:latin typeface="Calibri"/>
              </a:rPr>
              <a:t>Analysis </a:t>
            </a:r>
            <a:r>
              <a:rPr sz="1450" b="0" i="0">
                <a:solidFill>
                  <a:srgbClr val="212E3B"/>
                </a:solidFill>
                <a:latin typeface="Calibri"/>
              </a:rPr>
              <a:t>— mean ± SD over ≥3 repeats, plots in Python / 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00200"/>
            <a:ext cx="5486400" cy="1298448"/>
          </a:xfrm>
          <a:prstGeom prst="roundRect">
            <a:avLst>
              <a:gd name="adj" fmla="val 9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64792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H1   </a:t>
            </a:r>
            <a:r>
              <a:rPr sz="1350" b="0" i="0">
                <a:solidFill>
                  <a:srgbClr val="212E3B"/>
                </a:solidFill>
                <a:latin typeface="Calibri"/>
              </a:rPr>
              <a:t>PID settles faster but may overshoot; the S-curve is smooth by construction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063240"/>
            <a:ext cx="5486400" cy="1298448"/>
          </a:xfrm>
          <a:prstGeom prst="roundRect">
            <a:avLst>
              <a:gd name="adj" fmla="val 9000"/>
            </a:avLst>
          </a:prstGeom>
          <a:solidFill>
            <a:srgbClr val="FBF1DD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27832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H2   </a:t>
            </a:r>
            <a:r>
              <a:rPr sz="1350" b="0" i="0">
                <a:solidFill>
                  <a:srgbClr val="212E3B"/>
                </a:solidFill>
                <a:latin typeface="Calibri"/>
              </a:rPr>
              <a:t>The energy outcome is genuinely open — that is why it must be measured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526280"/>
            <a:ext cx="5486400" cy="1298448"/>
          </a:xfrm>
          <a:prstGeom prst="roundRect">
            <a:avLst>
              <a:gd name="adj" fmla="val 9000"/>
            </a:avLst>
          </a:prstGeom>
          <a:solidFill>
            <a:srgbClr val="F3F7F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690872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H3   </a:t>
            </a:r>
            <a:r>
              <a:rPr sz="1350" b="0" i="0">
                <a:solidFill>
                  <a:srgbClr val="212E3B"/>
                </a:solidFill>
                <a:latin typeface="Calibri"/>
              </a:rPr>
              <a:t>PID drives rpmL−rpmR → ~0; open-loop leaves ~5% → the car keeps drifting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28016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03 ·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Calibri"/>
              </a:rPr>
              <a:t>Platform &amp; Data Pipeline Already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25296"/>
            <a:ext cx="11094415" cy="1778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7C"/>
                </a:solidFill>
                <a:latin typeface="Calibri"/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6583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212E3B"/>
                </a:solidFill>
                <a:latin typeface="Calibri"/>
              </a:rPr>
              <a:t>Hardware: </a:t>
            </a:r>
            <a:r>
              <a:rPr sz="1550" b="0" i="0">
                <a:solidFill>
                  <a:srgbClr val="212E3B"/>
                </a:solidFill>
                <a:latin typeface="Calibri"/>
              </a:rPr>
              <a:t>built, wired and running — tested wiring checklist v3.3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212E3B"/>
                </a:solidFill>
                <a:latin typeface="Calibri"/>
              </a:rPr>
              <a:t>Firmware: </a:t>
            </a:r>
            <a:r>
              <a:rPr sz="1550" b="0" i="0">
                <a:solidFill>
                  <a:srgbClr val="212E3B"/>
                </a:solidFill>
                <a:latin typeface="Calibri"/>
              </a:rPr>
              <a:t>PID, telemetry and CSV logging already produce real data (test runs completed in August)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212E3B"/>
                </a:solidFill>
                <a:latin typeface="Calibri"/>
              </a:rPr>
              <a:t>Remaining build work: </a:t>
            </a:r>
            <a:r>
              <a:rPr sz="1550" b="0" i="0">
                <a:solidFill>
                  <a:srgbClr val="212E3B"/>
                </a:solidFill>
                <a:latin typeface="Calibri"/>
              </a:rPr>
              <a:t>one S-curve generator function — weeks, not months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212E3B"/>
                </a:solidFill>
                <a:latin typeface="Calibri"/>
              </a:rPr>
              <a:t>Low cost, common components </a:t>
            </a:r>
            <a:r>
              <a:rPr sz="1550" b="0" i="0">
                <a:solidFill>
                  <a:srgbClr val="212E3B"/>
                </a:solidFill>
                <a:latin typeface="Calibri"/>
              </a:rPr>
              <a:t>→ quick repair or replacement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212E3B"/>
                </a:solidFill>
                <a:latin typeface="Calibri"/>
              </a:rPr>
              <a:t>Supervisor support </a:t>
            </a:r>
            <a:r>
              <a:rPr sz="1550" b="0" i="0">
                <a:solidFill>
                  <a:srgbClr val="212E3B"/>
                </a:solidFill>
                <a:latin typeface="Calibri"/>
              </a:rPr>
              <a:t>for the experimental design and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00200"/>
            <a:ext cx="420624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338328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E7C"/>
                </a:solidFill>
                <a:latin typeface="Calibri"/>
              </a:rPr>
              <a:t>[ screenshot: real CSV telemetry curve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532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F6E7C"/>
                </a:solidFill>
                <a:latin typeface="Calibri"/>
              </a:rPr>
              <a:t>replace before the defense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28016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03 ·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Calibri"/>
              </a:rPr>
              <a:t>Skills, Risks &amp; Backups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25296"/>
            <a:ext cx="11094415" cy="1778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7C"/>
                </a:solidFill>
                <a:latin typeface="Calibri"/>
              </a:rP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11094415" cy="658368"/>
          </a:xfrm>
          <a:prstGeom prst="roundRect">
            <a:avLst>
              <a:gd name="adj" fmla="val 12000"/>
            </a:avLst>
          </a:prstGeom>
          <a:solidFill>
            <a:srgbClr val="E4EFF6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457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Calibri"/>
              </a:rPr>
              <a:t>Skills in hand:  </a:t>
            </a:r>
            <a:r>
              <a:rPr sz="1400" b="0" i="0">
                <a:solidFill>
                  <a:srgbClr val="212E3B"/>
                </a:solidFill>
                <a:latin typeface="Calibri"/>
              </a:rPr>
              <a:t>Arduino / ESP32 firmware  ·  Python (pyserial, pandas)  ·  PID theory (Åström &amp; Hägglund)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37744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04088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109728" marR="73152" marT="36576" marB="36576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109728" marR="73152" marT="36576" marB="36576" anchor="ctr">
                    <a:solidFill>
                      <a:srgbClr val="102A4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E3B"/>
                          </a:solidFill>
                          <a:latin typeface="Calibri"/>
                        </a:rPr>
                        <a:t>INA226 sensor drops out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firmware auto-reconnect + multimeter cross-check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E3B"/>
                          </a:solidFill>
                          <a:latin typeface="Calibri"/>
                        </a:rPr>
                        <a:t>Battery voltage drifts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fixed voltage window per session + voltage logged every sample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E3B"/>
                          </a:solidFill>
                          <a:latin typeface="Calibri"/>
                        </a:rPr>
                        <a:t>Encoder quantisation noise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100 ms sampling period, low-pass filter, ≥3 repeats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E3B"/>
                          </a:solidFill>
                          <a:latin typeface="Calibri"/>
                        </a:rPr>
                        <a:t>Schedule slip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6-week buffer before submission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440680"/>
            <a:ext cx="11094415" cy="685800"/>
          </a:xfrm>
          <a:prstGeom prst="roundRect">
            <a:avLst>
              <a:gd name="adj" fmla="val 12000"/>
            </a:avLst>
          </a:prstGeom>
          <a:solidFill>
            <a:srgbClr val="E1F2EA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54577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6F54"/>
                </a:solidFill>
                <a:latin typeface="Calibri"/>
              </a:rPr>
              <a:t>Ethics &amp; safety:  </a:t>
            </a:r>
            <a:r>
              <a:rPr sz="1350" b="0" i="0">
                <a:solidFill>
                  <a:srgbClr val="212E3B"/>
                </a:solidFill>
                <a:latin typeface="Calibri"/>
              </a:rPr>
              <a:t>low voltage (≤9 V) · bench-tested · new behaviours always wheels-off-ground first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28016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04 ·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Calibri"/>
              </a:rPr>
              <a:t>Aug 2026 → Apr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25296"/>
            <a:ext cx="11094415" cy="1778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7C"/>
                </a:solidFill>
                <a:latin typeface="Calibri"/>
              </a:rPr>
              <a:t>11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743200"/>
                <a:gridCol w="4114800"/>
              </a:tblGrid>
              <a:tr h="51435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109728" marR="73152" marT="36576" marB="36576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109728" marR="73152" marT="36576" marB="36576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109728" marR="73152" marT="36576" marB="36576" anchor="ctr">
                    <a:solidFill>
                      <a:srgbClr val="102A43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E3B"/>
                          </a:solidFill>
                          <a:latin typeface="Calibri"/>
                        </a:rPr>
                        <a:t>S-curve generator + pilot tests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Aug – mid Sep 2026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tested open-loop mode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E3B"/>
                          </a:solidFill>
                          <a:latin typeface="Calibri"/>
                        </a:rPr>
                        <a:t>Main experiments A–E + repeats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mid Sep – Nov 2026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complete CSV dataset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E3B"/>
                          </a:solidFill>
                          <a:latin typeface="Calibri"/>
                        </a:rPr>
                        <a:t>Extension: combined strategy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Nov – Dec 2026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extra dataset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E3B"/>
                          </a:solidFill>
                          <a:latin typeface="Calibri"/>
                        </a:rPr>
                        <a:t>Data analysis + literature write-up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Dec 2026 – Jan 2027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figures + review section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E3B"/>
                          </a:solidFill>
                          <a:latin typeface="Calibri"/>
                        </a:rPr>
                        <a:t>Report writing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Jan – Feb 2027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first full draft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E3B"/>
                          </a:solidFill>
                          <a:latin typeface="Calibri"/>
                        </a:rPr>
                        <a:t>Revision + supervisor review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Mar 2027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second draft</a:t>
                      </a:r>
                    </a:p>
                  </a:txBody>
                  <a:tcPr marL="109728" marR="73152" marT="36576" marB="36576" anchor="ctr">
                    <a:solidFill>
                      <a:srgbClr val="F3F7FA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E3B"/>
                          </a:solidFill>
                          <a:latin typeface="Calibri"/>
                        </a:rPr>
                        <a:t>Buffer + proofreading + submission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Apr 2027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E3B"/>
                          </a:solidFill>
                          <a:latin typeface="Calibri"/>
                        </a:rPr>
                        <a:t>final report (06/27 series)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Calibri"/>
              </a:rPr>
              <a:t>Every phase ends with a concrete deliverable </a:t>
            </a:r>
            <a:r>
              <a:rPr sz="1300" b="0" i="0">
                <a:solidFill>
                  <a:srgbClr val="5F6E7C"/>
                </a:solidFill>
                <a:latin typeface="Calibri"/>
              </a:rPr>
              <a:t>— slippage becomes visible early.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28016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Calibri"/>
              </a:rPr>
              <a:t>Expected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25296"/>
            <a:ext cx="11094415" cy="1778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E7C"/>
                </a:solidFill>
                <a:latin typeface="Calibr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789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70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12E3B"/>
                </a:solidFill>
                <a:latin typeface="Calibri"/>
              </a:rPr>
              <a:t>Same car, same task, two strategies </a:t>
            </a:r>
            <a:r>
              <a:rPr sz="1700" b="0" i="0">
                <a:solidFill>
                  <a:srgbClr val="212E3B"/>
                </a:solidFill>
                <a:latin typeface="Calibri"/>
              </a:rPr>
              <a:t>— measured, not assumed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70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12E3B"/>
                </a:solidFill>
                <a:latin typeface="Calibri"/>
              </a:rPr>
              <a:t>Two outcomes: </a:t>
            </a:r>
            <a:r>
              <a:rPr sz="1700" b="0" i="0">
                <a:solidFill>
                  <a:srgbClr val="212E3B"/>
                </a:solidFill>
                <a:latin typeface="Calibri"/>
              </a:rPr>
              <a:t>the energy–time trade-off  +  quantified differential suppression that only feedback provides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700" b="0" i="0">
                <a:solidFill>
                  <a:srgbClr val="2E86AB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12E3B"/>
                </a:solidFill>
                <a:latin typeface="Calibri"/>
              </a:rPr>
              <a:t>Deliverable: </a:t>
            </a:r>
            <a:r>
              <a:rPr sz="1700" b="0" i="0">
                <a:solidFill>
                  <a:srgbClr val="212E3B"/>
                </a:solidFill>
                <a:latin typeface="Calibri"/>
              </a:rPr>
              <a:t>evidence-based guidance for battery-powered robots, with an open dataset from a fully documented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1094415" cy="1234440"/>
          </a:xfrm>
          <a:prstGeom prst="roundRect">
            <a:avLst>
              <a:gd name="adj" fmla="val 10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09441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